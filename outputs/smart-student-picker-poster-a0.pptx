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6dc74b9662485e" /><Relationship Type="http://schemas.openxmlformats.org/officeDocument/2006/relationships/extended-properties" Target="/docProps/app.xml" Id="Rd81405a3591d47f9" /><Relationship Type="http://schemas.openxmlformats.org/officeDocument/2006/relationships/officeDocument" Target="/ppt/presentation.xml" Id="R6d4411e5b41c48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8905c2afc44471"/>
  </p:sldMasterIdLst>
  <p:notesMasterIdLst>
    <p:notesMasterId xmlns:r="http://schemas.openxmlformats.org/officeDocument/2006/relationships" r:id="Rec864b57439c45a4"/>
  </p:notesMasterIdLst>
  <p:sldIdLst>
    <p:sldId xmlns:r="http://schemas.openxmlformats.org/officeDocument/2006/relationships" id="256" r:id="Ra5c99815e84d4e6c"/>
  </p:sldIdLst>
  <p:sldSz cx="30279975" cy="428053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0be8b0ec9c4789" /><Relationship Type="http://schemas.openxmlformats.org/officeDocument/2006/relationships/slideMaster" Target="/ppt/slideMasters/slideMaster1.xml" Id="Rdc8905c2afc44471" /><Relationship Type="http://schemas.openxmlformats.org/officeDocument/2006/relationships/notesMaster" Target="/ppt/notesMasters/notesMaster1.xml" Id="Rec864b57439c45a4" /><Relationship Type="http://schemas.openxmlformats.org/officeDocument/2006/relationships/presProps" Target="/ppt/presProps.xml" Id="R8195d86d2bb74eab" /><Relationship Type="http://schemas.openxmlformats.org/officeDocument/2006/relationships/tableStyles" Target="/ppt/tableStyles.xml" Id="Rbe2a0f3be1f6428e" /><Relationship Type="http://schemas.openxmlformats.org/officeDocument/2006/relationships/slide" Target="/ppt/slides/slide1.xml" Id="Ra5c99815e84d4e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3ab591212243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862afc9be443f3" /><Relationship Type="http://schemas.openxmlformats.org/officeDocument/2006/relationships/notesMaster" Target="/ppt/notesMasters/notesMaster1.xml" Id="R72541738ca0c41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0db04683647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54962853374c1b" /><Relationship Type="http://schemas.openxmlformats.org/officeDocument/2006/relationships/slideLayout" Target="/ppt/slideLayouts/slideLayout1.xml" Id="R056d913e79264e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6d913e79264e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2a22e03c94cae" /><Relationship Type="http://schemas.openxmlformats.org/officeDocument/2006/relationships/notesSlide" Target="/ppt/notesSlides/notesSlide1.xml" Id="Rc797bdf184cb4d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9EA02-CD3F-4931-B543-BFB0C1F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0E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C59FF-2BA7-46F7-92D4-16BA2A03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0"/>
            <a:ext cx="302799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BC325-B15D-44FB-B6CA-F7251849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9150"/>
            <a:ext cx="74295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9050" rIns="1143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MASTER-PROJEKT INFORMATIK · SOSE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09E80-FCD8-4C01-B21D-39847F11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52550"/>
            <a:ext cx="1828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 Student Picker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C0796-D710-49D2-B844-25A687CE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1476375"/>
            <a:ext cx="1114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53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700" b="1" i="0">
                <a:solidFill>
                  <a:srgbClr val="DFF8FB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DFF8FB"/>
                </a:solidFill>
                <a:latin typeface="Aptos"/>
                <a:ea typeface="Aptos"/>
                <a:cs typeface="Aptos"/>
              </a:rPr>
              <a:t>Faire digitale Aufgaben-, Team- und Themenverteilung für Lehrveranstaltungen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9383D-8EEC-457F-B7FB-2FDE4BAE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909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6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4A145C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4A145C"/>
                </a:solidFill>
                <a:latin typeface="Aptos"/>
                <a:ea typeface="Aptos"/>
                <a:cs typeface="Aptos"/>
              </a:rPr>
              <a:t>Fragestellung – Methode – Ergebnisse – Fazit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0341D-4926-4820-91F3-F3320BCE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2209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53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0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2850" b="0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Wie kann ein Vergabeprozess so gestaltet werden, dass Lehrende schnell handeln können und Studierende die Auslosung als nachvollziehbar und fair erleben?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7C71F-61EF-451F-AADA-4EEDE190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3429000"/>
            <a:ext cx="4381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FF8FB"/>
          </a:solidFill>
          <a:ln xmlns:a="http://schemas.openxmlformats.org/drawingml/2006/main" w="19050">
            <a:solidFill>
              <a:srgbClr val="9D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163B0-180C-44D6-8E1B-1A018F37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0" y="3590925"/>
            <a:ext cx="3924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56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Prototyp-Stand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Demo-Daten, keine Echtnamen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09D35-6B18-47BC-9836-E4568319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8382000" cy="8096250"/>
          </a:xfrm>
          <a:prstGeom xmlns:a="http://schemas.openxmlformats.org/drawingml/2006/main" prst="roundRect">
            <a:avLst>
              <a:gd name="adj" fmla="val 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AA16B-FD93-4B5C-BF30-B7345AF7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17145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1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48B9B-42ED-436C-A883-763DDAAA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95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1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68913-7C72-4847-95E8-619F8C98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AF4B6-E3B5-4455-B50E-D7755070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6737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Fragestellung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4D4EB-A6CB-43AC-B91A-63DF8101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477000"/>
            <a:ext cx="72771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9EEF0"/>
          </a:solidFill>
          <a:ln xmlns:a="http://schemas.openxmlformats.org/drawingml/2006/main" w="9525">
            <a:solidFill>
              <a:srgbClr val="D1D8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188D9-1217-497B-85CF-30784C7B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477000"/>
            <a:ext cx="72771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13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8D220-3083-4204-BC92-DF1A58A6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788" y="7728585"/>
            <a:ext cx="3201924" cy="10429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DB8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2005C-E7CB-49F1-BB17-A96C0318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72" y="7867650"/>
            <a:ext cx="2619756" cy="6257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0E4"/>
          </a:solidFill>
          <a:ln xmlns:a="http://schemas.openxmlformats.org/drawingml/2006/main" w="19050">
            <a:solidFill>
              <a:srgbClr val="9AA8B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BB2D4-C669-4EDA-A350-89BD8BAD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3436620" y="7241858"/>
            <a:ext cx="1309878" cy="382429"/>
          </a:xfrm>
          <a:prstGeom xmlns:a="http://schemas.openxmlformats.org/drawingml/2006/main" prst="roundRect">
            <a:avLst>
              <a:gd name="adj" fmla="val 9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1CC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B5957-E0D0-48AD-ACE2-E30E8A99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820" y="7356158"/>
            <a:ext cx="1157478" cy="208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36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Ali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125D1-22B6-40C9-A9B8-885697C9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5183124" y="7102793"/>
            <a:ext cx="1309878" cy="382429"/>
          </a:xfrm>
          <a:prstGeom xmlns:a="http://schemas.openxmlformats.org/drawingml/2006/main" prst="roundRect">
            <a:avLst>
              <a:gd name="adj" fmla="val 9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1CC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6A373A-A305-46A1-B08C-AC9A6E6F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9324" y="7217093"/>
            <a:ext cx="1157478" cy="208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36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Mina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37C0B-4412-4DEB-BA77-D23F7244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6493002" y="7450455"/>
            <a:ext cx="1309878" cy="382429"/>
          </a:xfrm>
          <a:prstGeom xmlns:a="http://schemas.openxmlformats.org/drawingml/2006/main" prst="roundRect">
            <a:avLst>
              <a:gd name="adj" fmla="val 9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1CC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9AA3F-7E1C-4567-8FC1-EF8CCE8D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202" y="7564755"/>
            <a:ext cx="1157478" cy="208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36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Lea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2A54D-E18D-4B82-BEBA-D24D1059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0">
            <a:off x="4018788" y="8771573"/>
            <a:ext cx="1309878" cy="382429"/>
          </a:xfrm>
          <a:prstGeom xmlns:a="http://schemas.openxmlformats.org/drawingml/2006/main" prst="roundRect">
            <a:avLst>
              <a:gd name="adj" fmla="val 9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1CC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1A4B27-9E8B-4C74-9742-CFFF41F3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988" y="8885873"/>
            <a:ext cx="1157478" cy="208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36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Noah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CBE872-1FCE-44D1-AB10-8020CC4B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129147" y="8667274"/>
            <a:ext cx="1309878" cy="382429"/>
          </a:xfrm>
          <a:prstGeom xmlns:a="http://schemas.openxmlformats.org/drawingml/2006/main" prst="roundRect">
            <a:avLst>
              <a:gd name="adj" fmla="val 9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1CC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E5FF14-DA44-4BEC-ACBB-821A5606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347" y="8781574"/>
            <a:ext cx="1157478" cy="208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36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Sara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27C66B-31EA-46A4-8766-ACDF0733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9248775"/>
            <a:ext cx="659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Manuell: Lose, Listen, Bauchgefühl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E82D04-EEE0-4DBE-9B77-2791073E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0325100"/>
            <a:ext cx="727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Problem im Lehralltag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AE2D39-15E5-4C5C-9560-B1D17E7C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0858500"/>
            <a:ext cx="72771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2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950" b="0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• Manuelle Verteilung ist langsam und schlecht skalierbar.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950" b="0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• Fairness ist schwer sichtbar: Wer hatte welche Chance?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950" b="0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• Teams und Themen brauchen nach der Auslosung oft manuelle Korrektur.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256823-C7D6-4B84-87E1-EE8C70B3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34000"/>
            <a:ext cx="8382000" cy="8096250"/>
          </a:xfrm>
          <a:prstGeom xmlns:a="http://schemas.openxmlformats.org/drawingml/2006/main" prst="roundRect">
            <a:avLst>
              <a:gd name="adj" fmla="val 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59C91A-0580-446D-A32B-237F0782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34000"/>
            <a:ext cx="17145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30C427-4070-4E17-9B23-812DADDE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695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3B8305-0CD7-4C7D-A602-A403D7A1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7912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7C6D0E-8830-4F51-9749-ED9DE850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6737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Methode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949AA9-BB65-4968-BFDD-A13A68B6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7277100" cy="161925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4EF170-451B-4252-B081-23735A1F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8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1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0BE3B0-C844-4973-BD6C-A8D82649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8675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35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7604FA-1EE7-4F89-86FC-9DC753E1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800850"/>
            <a:ext cx="621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Session erstellen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8C7D20-2030-4F8B-8C45-84ED2226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58050"/>
            <a:ext cx="621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Lehrende wählen Modus und optional Teamgröße.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C328D8-7F72-4D5A-B545-493FEF3C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8382000"/>
            <a:ext cx="7277100" cy="161925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BA3280-9BA8-4072-9E0D-0124EBDC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591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53286E-60B1-4B33-A59F-73D5AE1F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6772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35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272F30-C2BC-4839-8658-54050A93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610600"/>
            <a:ext cx="621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QR-Code teilen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F5A71A-26C0-4E3C-B212-B364664D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9067800"/>
            <a:ext cx="621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Studierende melden sich ohne Account mit Demo-Namen an.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437810-7E77-4AC6-A8D6-73245052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0191750"/>
            <a:ext cx="7277100" cy="161925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38A67E-6555-468C-BBE5-BC2C3C2D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401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15D534-B96E-4243-804A-6709CE23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4870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35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816281-83A0-4047-AD13-5B1CA6FD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0420350"/>
            <a:ext cx="621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Live-Auslosung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416191-C166-4D91-8666-0AECB840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0877550"/>
            <a:ext cx="621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Algorithmus verteilt Personen und Themen sichtbar auf der Bühne.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DB4C67-54CC-4BF8-930F-7B6D0FFD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2077700"/>
            <a:ext cx="7277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Implementiert als Web-Prototyp mit Next.js, API-Routen, MariaDB/Prisma und live aktualisierter Teilnehmerliste.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BD9143-898C-48B4-9A36-2D7C4CE9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5334000"/>
            <a:ext cx="8382000" cy="8096250"/>
          </a:xfrm>
          <a:prstGeom xmlns:a="http://schemas.openxmlformats.org/drawingml/2006/main" prst="roundRect">
            <a:avLst>
              <a:gd name="adj" fmla="val 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D41862-13FF-4854-B96B-91AC2BCE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5334000"/>
            <a:ext cx="17145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FE53C4-0CC8-49B7-99CA-98261F79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6300" y="5695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051BB3-52C5-48C7-97A9-B0F294C1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6300" y="57912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27C7C0-A602-4473-AC9B-AE820281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0200" y="566737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Ergebnisse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D9D282-2C71-4BFC-8C46-2DB6033D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8700" y="6572250"/>
            <a:ext cx="72771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D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2A8AD8-5997-45D3-A894-478A48D8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8700" y="6572250"/>
            <a:ext cx="727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699F268-A280-4F64-A642-4C5659EB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7300" y="676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81DE07-4EAF-4AA4-8D6D-554FC2F7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0200" y="676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E2078F9-8597-4E56-B8DF-33C153D1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3100" y="676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DB070D-CD05-4137-8F5E-422AAE81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4575" y="6705600"/>
            <a:ext cx="575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Einzelauslosung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17E1BB2-C510-4194-AD41-DEF14261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9200" y="7296150"/>
            <a:ext cx="68961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ED42BE5-D3DE-40BC-9B46-E77E2AB6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0175" y="75914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27F94C4-EA6A-4D3F-B24A-17E0A82D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600" y="809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88642D-EA4E-4143-9B84-A510B75D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5025" y="8601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F874788-F99A-41E1-AAA5-B9BE48D3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0" y="73723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FC3FFF-FEFB-4F3F-A05A-CC42AA14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875" y="78771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F8724BC-0001-4437-BFE4-C71F23FD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2300" y="83820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136C3A1-F07B-410D-BB6B-EABC9C57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4725" y="88868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E506D48-6544-44E1-A458-0CEB12C1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7150" y="76581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EB65FE1-1382-41D7-9ED3-2645FF1E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9575" y="81629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758D1C-1962-483D-82F9-1B9642F8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0" y="866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F0F10D3-BF91-492D-B4F0-70C37839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425" y="74390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A954483-741C-4317-86E5-3C62DF0D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6850" y="7943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ADDA43F-CE54-4BCD-A6BE-265D5693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9275" y="8448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686EB30-23E6-4093-B6D2-21846C2E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0" y="895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4B4E87-D8AC-40C3-A7EE-ACBE608C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25" y="77247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55017B3-6E18-451A-8B9B-1A7524D8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6550" y="82296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AFC86BC-CA75-449C-99B9-72D995EC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8975" y="87344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1D863FA-AA0B-4DEE-98D2-387477C5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1400" y="7505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FD929FF-44AA-49B1-AA11-E5D45147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3825" y="80105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7ED13B1-6945-4E9A-8BD5-EBF5D6F6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4450" y="85153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C1F4A19-5FA6-4CA3-A422-AE9A6A01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6875" y="90201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05637B2-E3A3-4305-82C8-FE5943AF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9300" y="779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6B95D2B-5C52-4C57-BA7F-0BD91D32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1725" y="82962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EF411B2-DEE1-4E84-8028-8A3C0482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150" y="88011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13A0B59-0F04-4256-81DB-A2AAA004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6575" y="75723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D582D07-86EF-4BF6-B32C-13C0CA9D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8077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4601F1C-734D-4EFD-872D-ECAD3C32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1425" y="85820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757B501-85EB-4DC5-9D4F-DF68F96E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73533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933CE88-0969-41A8-9257-7DD50D52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6275" y="78581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B3330FB-845F-4F3D-A2C9-7CED7486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0" y="836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3D89504-6E2F-45C0-92AC-0AF56479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1125" y="88677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C02CA8F-73FC-4025-8256-DD40626F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3550" y="76390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F727372-58EB-4D4A-BA89-E7BCB5E0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5975" y="8143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1AE919D-DF23-494C-AB5D-5A544559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0" y="86487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CA74F49-7A50-4649-BE61-C1E7E601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0825" y="741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080E592-6438-4347-85DB-C7BEFC58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0" y="79248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F345576-29C5-4886-BFE2-D7E8CD98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5675" y="8429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E46BC03-7E43-40B6-8B73-D91D1A51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8100" y="893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6D8C56C-EE59-4D6B-B650-6050781C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725" y="77057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19986B1-B4A7-4F6C-A609-A0D9CDB4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82105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2C1A3A8-EDDF-4E9C-978E-7A542AB5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3575" y="87153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BE1F830-2858-4D83-8EAA-AC0A77F2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74866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CBDA43B-DAA9-4842-A13E-3E5527A7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8425" y="7991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CDBF37D-4DCC-4392-8E4A-34B65976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0850" y="84963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8526F5E-E171-4F79-9670-E6AE6912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3275" y="90011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EF8C919-3EA8-417D-8E54-F45292F6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5700" y="77724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68DEB8-D2EB-4E8F-AB69-217946F4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25" y="8277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32408B9-1C32-469E-B2F3-F271088E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0550" y="87820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F04EAFA-9E69-4441-A41E-742992F2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975" y="7553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D084397-4B86-4975-9E95-5288B550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0" y="8058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177914E-A699-4AA3-847E-170B8BF2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825" y="8562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664FD47-56C9-4FF8-A57A-138E6146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0" y="7334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F47D2D0-DD5B-4237-AE4E-55651EAE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2675" y="783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13F76DD-EF1F-49C3-9E5B-AE11BAF8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5100" y="83439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66F9FD0-6133-49BB-A7E1-8C8E1494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7525" y="88487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2D423FB-5150-4191-A53A-9FF168C1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9950" y="7620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2DF498D-C4B6-4522-85BA-198C03A3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75" y="81248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632C34B-9B20-43F9-B565-8D181E6C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0" y="86296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4C8DB2E-9C5D-4498-9560-934E5BB6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5425" y="74009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3F9ACEA-C2C5-4B67-A5A7-D9672FC6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7850" y="7905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6A938B8-44C4-47F3-A222-7F76FD5A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0275" y="84105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3AF5A5E-E1FC-404B-9C0B-948545A3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2700" y="89154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B2D3628-CA1F-42AD-90CA-A8B33867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25" y="768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46F02B2-17A3-4BFC-A361-38D15320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0" y="8191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4184E3F-7246-4F03-94AA-B953B515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75" y="869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BD422BB-ED3B-47EC-B5CD-08C93997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2400" y="74676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A36FB9A-B3F1-4595-9EED-A6E91021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4825" y="79724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6EF000F-0FCE-4DE2-BE65-9C267E49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0" y="8477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744174F-41A6-404B-982D-736F90BA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9675" y="8982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939E89D-1C42-4A9E-B0AC-2ADCDFA2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2100" y="77533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B5BD034-C677-47A8-985A-468F7199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4525" y="82581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09862AE-BE93-4323-82B4-3C007AFA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6950" y="8763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7D21FAC-7408-4DF3-86F5-921D3312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9375" y="753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9381246-2CF6-482F-8E9E-A0274253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1800" y="80391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D02F202-28D5-4A23-832B-AC5381EB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2700" y="8382000"/>
            <a:ext cx="422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120A"/>
          </a:solidFill>
          <a:ln xmlns:a="http://schemas.openxmlformats.org/drawingml/2006/main" w="28575">
            <a:solidFill>
              <a:srgbClr val="FFE0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F0FEA8C-C4F7-4BDD-9BA7-F97916DC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150" y="8534400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23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♛  Sara gewinnt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D4ABF1A-36F5-49C7-AE4F-8537AE7A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8700" y="9620250"/>
            <a:ext cx="72771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D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D2CF36D-FE33-4936-ADDD-98674684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8700" y="9620250"/>
            <a:ext cx="727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3DD2286-DAD5-499B-AE8C-1CEB9D04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7300" y="9810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A1F0AC1-95A1-4996-A34F-B74D4CF7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0200" y="9810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6E343E9-C7B4-474C-B5B6-6A9B1CF9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3100" y="9810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0B5E4F6-B74A-4BD2-8BC5-52091EE1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4575" y="9753600"/>
            <a:ext cx="575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Team-Auslosung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6EF753A-1720-45D9-B7B5-74C0C979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9200" y="10344150"/>
            <a:ext cx="68961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F2140E2-95BF-493B-861A-1C427858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0175" y="106394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B77340B-D027-4422-807E-50902B2E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600" y="11144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DB395D4-CF01-48BB-AC0A-FAA0ADDE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5025" y="1164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B6694DF-B9CF-4DB8-A328-4BD39704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0" y="104203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998AA2E-1659-4B2E-AC78-43A2A59E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875" y="109251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4B0D5F35-F1FA-4537-804B-9F0C6D14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2300" y="114300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CEB2240-EE90-44DB-AD1E-F576398C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4725" y="119348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6CB220E-CC45-4AB9-A334-2A433EF5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7150" y="107061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D7927E6-F430-41E0-8BE9-95E7550E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9575" y="112109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1965CD6-D3B1-4FC0-BA52-7A43FEDC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0" y="11715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8F9A2D8-BF29-417B-9254-BF0D980C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425" y="104870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273142D-7BC5-4319-A6AD-B7062311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6850" y="10991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4939766-739B-45BF-A72F-9EF50AD6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9275" y="1149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4F32833-1D50-4ED6-B13A-66795085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0" y="12001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C2DEE32-7155-49CF-8657-9A27813A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25" y="107727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25CB5A5-0900-4B4D-8EB4-4DD47BD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6550" y="112776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2B4C241-5839-40A8-8A60-0FB152AF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8975" y="117824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C48611A-5650-493B-84B4-4D245102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1400" y="1055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F93523D-6ECD-436C-891B-216265A3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3825" y="110585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F709B96-FEFD-43DF-A877-E8698445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4450" y="115633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D6713D9-27C1-4C4C-AD10-AD1AB2DE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6875" y="120681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2DEF33C-1A76-42CE-BED6-5BCC4EDE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9300" y="10839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9BB8560-5A0A-455E-9977-291D3BA8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1725" y="113442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FBCBD96-A4A9-4F5C-8244-E8C465E5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150" y="118491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E7898DF-F6CD-4B07-87B9-D39C5A7B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6575" y="106203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BC2F86D-7D29-4CC9-BBCF-1B9CE870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11125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264A439-F4F2-48C7-9976-CCCA6D3B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1425" y="116300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FFA5941-BCF0-45CB-AE9E-EAA661F0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104013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18A00DB-9C72-4CF6-9B39-204A08BB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6275" y="109061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0C8F61D-984D-41B9-9D1C-1160ED9E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0" y="11410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05E42E1-48E8-4ED8-A102-BFE63B2D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1125" y="119157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DDB6386-44A9-48C0-9FAC-79E4A9DA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3550" y="106870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9264E337-DDB3-44B5-96EE-D0961D52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5975" y="1119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AC35A38-2734-4984-89A6-FE480503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0" y="116967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A05009E-F13D-409C-9BFD-C48B1663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0825" y="10467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D357F82-C07D-4C90-AAF1-5D349242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0" y="109728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AAC0CA6-049C-405E-A6C3-3B10D01F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5675" y="11477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0BDCFF8-FE00-4038-9A78-93EA9BD9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8100" y="11982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028312A9-E498-4DF0-A6B3-CE9D84F3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725" y="107537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69F323CA-AE15-477D-A5CB-3C9FB745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12585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925A1C2-FC0F-4904-8BBB-9EC68848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3575" y="117633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92D2244-E6CA-417D-8CF0-6204A5AA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105346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AAD07FC-A4D4-4A5D-9E8B-441CA759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8425" y="11039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E21BD87-A560-4D6F-A44D-263CFDDC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0850" y="115443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3D4605A-B80C-49CD-B7EF-B86C2CA3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3275" y="120491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5572DFC-7E90-4566-B2F4-B99F4C09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5700" y="108204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EA0BB84-04CC-494A-A64C-413686F2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25" y="11325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6D0527A-741D-4C8E-8D12-79BAE6DF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0550" y="118300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ED41BA05-E76E-41F3-9B6E-F4864BA1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975" y="10601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FC3B52B-FC6D-4F5E-B8E9-40A73E1D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0" y="11106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6750459-D826-4942-973E-9DCC8BD6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825" y="11610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D0A8492-22C4-4F0C-AABA-3E89EAC4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0" y="1038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E6F859A3-B6CC-484E-8C73-6E9BD3C2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2675" y="10887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787F210-5E28-45AD-93E7-3B0EEC9E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5100" y="113919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76B9D7D-D823-4801-BED1-E26F5C74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7525" y="118967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7708BF3-66B9-4A33-AE9C-12DBE378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9950" y="10668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7EBEE53-7B65-4963-AD69-8DB18416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75" y="111728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456A048-2248-4AFC-8451-210DEC07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0" y="116776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BFAE63FE-C5B4-492E-991B-89D584D1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5425" y="104489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F501B6FE-488F-4809-8D86-2ADC34C9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7850" y="1095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C0BA5C7-5A60-4A70-AF58-4212054B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0275" y="114585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0C11390-EF5F-44B2-8587-A9A2AD89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2700" y="119634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46BEA3D-4EF0-4526-9517-0D582708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25" y="10734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043C45B-17EA-4C36-85CC-BF329BDC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0" y="1123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5019893-DEA9-402F-B935-C3C8A5F7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75" y="11744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31568F5-A2B5-4029-97EF-66A04913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2400" y="105156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6A80046-B0F2-4112-95E5-C37825A6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4825" y="110204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2DB03003-CA7A-4708-83F8-38E42935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0" y="1152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0E7C0D7-EB82-4733-A954-A133095D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9675" y="12030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D93C767-EB5B-4318-8364-B01ED17C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2100" y="108013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471DC5D-77C8-4D90-9130-DCD4CCF0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4525" y="113061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3B200BC-ADF0-4D12-9C63-4A09477E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6950" y="1181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D6802EF-5790-42B8-845B-BE8CEF2E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9375" y="10582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BB903242-EDB7-4215-BAE4-169691AB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1800" y="110871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EFA16BA-8120-49B7-BA60-D24D9D6D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20935950" y="1082040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0634DD8-767F-4835-B9FA-134C1FB9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2150" y="108966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Mina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04969B7-CC57-482A-B232-457846C2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22412325" y="1082040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6C81630-7910-46A0-A669-3D90B12D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8525" y="108966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Jonas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A0FA2EF-50D9-451F-B1F6-86839E5B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23888700" y="1082040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475758F-4CA4-4435-A01D-90362C97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4900" y="108966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Noah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9BC1440-3CA7-4287-9C65-F2311F19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20935950" y="1163955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188CC555-937D-42BB-BCC3-A21F665C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2150" y="117157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Lea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CFF7036-DC25-47C7-ADA8-9B82D565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22412325" y="1163955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61953C8-2F69-4683-95A7-3ED08A7C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8525" y="117157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Ali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057170C-AF3D-41E7-8214-A0F9E2FB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23888700" y="1163955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52D33EA-1D6B-4F7A-B552-9A3BDEA4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4900" y="117157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Emma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04A86F6A-2E51-4FC5-BEB6-9FD2AADB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0" y="10725150"/>
            <a:ext cx="300990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DFF8FB">
              <a:alpha val="13333"/>
            </a:srgbClr>
          </a:solidFill>
          <a:ln xmlns:a="http://schemas.openxmlformats.org/drawingml/2006/main" w="19050">
            <a:solidFill>
              <a:srgbClr val="9EEAF2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7375A623-334E-4565-ACCD-678D04BE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7350" y="1083945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FFAF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FFAFE"/>
                </a:solidFill>
                <a:latin typeface="Aptos"/>
                <a:ea typeface="Aptos"/>
                <a:cs typeface="Aptos"/>
              </a:rPr>
              <a:t>Team 1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52BF8E3-A1A3-44C9-9DE5-10F5FAA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7350" y="11153775"/>
            <a:ext cx="27432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85B31A7-819D-4890-BACE-DFA3348D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3550" y="11172825"/>
            <a:ext cx="259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Mina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B3106FC-B6BB-4323-8177-85708E7D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7350" y="11391900"/>
            <a:ext cx="27432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087A4054-77E8-4833-9749-2416E6DD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3550" y="11410950"/>
            <a:ext cx="259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Jonas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28355EB-447B-4F9E-81A5-96905319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0" y="10725150"/>
            <a:ext cx="300990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DFF8FB">
              <a:alpha val="13333"/>
            </a:srgbClr>
          </a:solidFill>
          <a:ln xmlns:a="http://schemas.openxmlformats.org/drawingml/2006/main" w="19050">
            <a:solidFill>
              <a:srgbClr val="9EEAF2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7C9678B-01DC-4711-9BCF-4E3A681B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0600" y="1083945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FFAF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FFAFE"/>
                </a:solidFill>
                <a:latin typeface="Aptos"/>
                <a:ea typeface="Aptos"/>
                <a:cs typeface="Aptos"/>
              </a:rPr>
              <a:t>Team 2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F53DF52A-36FA-4956-818F-EFDC43FF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0600" y="11153775"/>
            <a:ext cx="27432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64A5F0AB-046C-4BB8-B204-5B9B2A8B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6800" y="11172825"/>
            <a:ext cx="259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Lea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6BA2E00-B0EC-416E-8E72-01216A3B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0600" y="11391900"/>
            <a:ext cx="27432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AC9E562B-A3B6-4930-965C-5943D495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6800" y="11410950"/>
            <a:ext cx="259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Noah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53E59FC6-A180-4516-8B4E-45A4222B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0" y="12020550"/>
            <a:ext cx="300990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DFF8FB">
              <a:alpha val="13333"/>
            </a:srgbClr>
          </a:solidFill>
          <a:ln xmlns:a="http://schemas.openxmlformats.org/drawingml/2006/main" w="19050">
            <a:solidFill>
              <a:srgbClr val="9EEAF2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61E48CD4-4F20-4253-8FBB-E15B85A7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7350" y="1213485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FFAF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FFAFE"/>
                </a:solidFill>
                <a:latin typeface="Aptos"/>
                <a:ea typeface="Aptos"/>
                <a:cs typeface="Aptos"/>
              </a:rPr>
              <a:t>Team 3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FFE4DB8-E679-4D42-8BAD-CAF06A84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7350" y="12449175"/>
            <a:ext cx="27432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2BAA3535-5AB6-432D-B095-E33315B0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3550" y="12468225"/>
            <a:ext cx="259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Mina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0ECF9CD-777D-4B43-A3F4-F69C04C2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7350" y="12687300"/>
            <a:ext cx="27432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B6190597-26F6-457E-82DE-C4F6D50F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3550" y="12706350"/>
            <a:ext cx="259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Jonas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AE58518-DB2D-455F-B06A-AC116CA0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0" y="12020550"/>
            <a:ext cx="300990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DFF8FB">
              <a:alpha val="13333"/>
            </a:srgbClr>
          </a:solidFill>
          <a:ln xmlns:a="http://schemas.openxmlformats.org/drawingml/2006/main" w="19050">
            <a:solidFill>
              <a:srgbClr val="9EEAF2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BD8EE2E-C727-4CAF-BFBF-BBA082AC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0600" y="1213485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FFAF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FFAFE"/>
                </a:solidFill>
                <a:latin typeface="Aptos"/>
                <a:ea typeface="Aptos"/>
                <a:cs typeface="Aptos"/>
              </a:rPr>
              <a:t>Team 4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3E688DD-349A-4EBB-8F65-236C293B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0600" y="12449175"/>
            <a:ext cx="27432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C7C448FB-7259-45DE-B028-B9685E93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6800" y="12468225"/>
            <a:ext cx="259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Lea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7987D35-CBDB-4BE7-AA6F-8022D45E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0600" y="12687300"/>
            <a:ext cx="27432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67C07EE-AD13-4930-81F2-1617F925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6800" y="12706350"/>
            <a:ext cx="259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Noah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819C1565-28A9-4376-A10D-3C64097F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8700" y="12534900"/>
            <a:ext cx="727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7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Funktionierender Prototyp: QR-Anmeldung, Einzelauslosung mit Gewichtung, Team-Auslosung und Themenzuordnung.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0EA781D1-E744-4357-BA05-582593F2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0"/>
            <a:ext cx="17526000" cy="10572750"/>
          </a:xfrm>
          <a:prstGeom xmlns:a="http://schemas.openxmlformats.org/drawingml/2006/main" prst="roundRect">
            <a:avLst>
              <a:gd name="adj" fmla="val 72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19050">
            <a:solidFill>
              <a:srgbClr val="26324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473B946D-E618-4B6D-90AF-7C55D038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0"/>
            <a:ext cx="17526000" cy="1057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9276E0A2-73BA-4848-927E-6238183F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45827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AA3C4DA0-E938-4567-9995-37FED873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50876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FAB6F54A-A0CA-4C95-82CF-F1DFD7A9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55924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1B28E270-10D7-49C5-9533-A1F8ED72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097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99F1DE6-F21F-48A5-A91F-2248EF6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6602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CFDE3850-B5CD-4C84-BAE1-EE8BE08C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069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F48C7AF9-F7DD-40A1-A5B5-9416589F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76117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9A5F735A-94D5-4492-B5D6-C42B6565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1165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25E8AAE-3E92-4195-B1F8-3022C3EE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6213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75E22F1-A72C-4D4B-AE72-89FC6225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12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FB74E9A8-8573-4EE6-8F35-18CEFBD2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96310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3F87326-046B-4DEE-BD65-2DC5ACFE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135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F8ADE138-ADAF-4FDF-87BC-3AF38E22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0640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B6795332-5A34-4A96-A049-087E253E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01DD3C0-ECD9-4DB7-8754-AE937E54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650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C762392-ECDC-485F-8F9E-A6267125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1551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48DD38AD-33FB-4FF2-A5DB-AE6E377F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65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01BB7654-36D9-4D8B-9050-F84AB745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1648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FA12900-F407-4E9B-9B7C-BBFA6D42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669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6F7F1EDF-C44B-473E-935C-28CA6128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7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824AAB8A-B77A-4BDC-99B9-18655070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6792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6C20DF9-F242-4D8D-A857-58B6A02E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7256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1820981D-BA8A-47DB-B6E2-FE178618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230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D02F97BA-2C54-419A-B6D6-16C6BB20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7353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810229FA-2B25-47D1-8294-42B7F79C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2401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06FE50A8-26C6-491A-BA18-A66B4478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67449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D296317B-BD20-4BC5-B52B-63117301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72497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07BCAF92-53C3-440B-BF36-302697A3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77546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FFB26D32-FC18-4ED1-82AD-55338254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182594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F5CF3974-D07E-4ECA-A406-1867D88D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8764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39CC1738-066C-4E2C-8F27-9B0FE2A5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192690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54B526BC-3299-4172-81DC-2C8EEA69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97739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660827A5-7F4C-4E63-8014-ECAD7C06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202787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C60D8EFF-87CC-4249-8797-1245943A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0783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80C99FE5-E609-4581-B00E-55870DBC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212883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449F8ED0-9B21-40DE-8F6A-FCBCFD99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21793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C8117A18-FB34-44C1-BB85-A38AA4E5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222980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09DE81F-4899-4495-9568-8DDF8B9C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228028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302530B1-3E3F-4F6D-ABDA-8B7FA657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23307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68B30FE2-56C4-4E13-8DE7-4F996E5D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2381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9152474E-ECCA-4FC3-9656-7A707BFE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43173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61DE7AF-869E-4D4B-A48C-C67C54A6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1436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C490D6A5-B4E9-40B6-B3E5-023677E5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575" y="148685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7D141B29-F60A-4D75-9F14-DB9C3B53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153733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B0A129D-817B-4279-9E27-35E4B77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425" y="15878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F6BC6911-0BC4-4995-86FC-52FEED84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0" y="163830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7B14A577-1343-48FF-B950-234854F9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1275" y="168878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2C9FB2FD-7C4C-4D8F-9E22-7FD9EA9B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0" y="173926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B1F4B59E-8150-44B7-9267-14302740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25" y="17897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F81C7EC3-2F03-4B60-9DD9-022F8CB2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4023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20189DC-223A-4E04-8547-F2036270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89071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1BE43835-FFA8-42DD-96EE-051958C5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41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F8C366B5-BDBB-4D77-A230-E5948FD5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99167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380CD88E-1F36-40BE-93A6-6FCE462D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4216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7E46C3A6-E855-4FE4-81BA-99730BC2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09264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E90C28E7-891D-49CA-A256-7EE209EE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431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5907DF1-85AE-4454-90E4-B95C700C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1936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BE13B2E2-5230-4551-8829-82405B0B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409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1300C16D-1CB5-4F54-BD31-98607EE2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9457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256C194B-0ADE-4591-96B6-E1EAC193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505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DEA7BE13-5A16-44E3-AF83-756BC2AB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39553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96237FCB-4244-41D0-97FC-C3BFBB94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46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362FBA62-DE0D-45AB-B0F5-11B515C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5065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88932EBC-00C1-4260-9FB5-DD4890F2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114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BF12589A-01F3-41FD-8ECB-3853226E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5516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6444270-0938-41D9-8EFD-1B5B6843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0210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5C85BABD-ECEA-4CD1-98FB-4DB5D0F2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65258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C3AB6773-AD90-4C37-B4EB-50553A80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03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1AB5F6DB-740C-4293-B7C7-85379763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75355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AB49B48E-D0F3-4BC4-8572-B533FFA7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403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D4F38C92-658B-46A0-9646-32E3413B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85451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70DCE37B-4BC9-4D3A-B20E-22494F52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050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846A0D07-FC28-45A3-89B5-E861FA60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95548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3C087217-1CA3-46EE-B845-8D330FB3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0596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20248A82-8598-4027-BA4E-ABF93306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2095500" y="1476375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DC7667C6-08BF-4110-B963-12505977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399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Mina</a:t>
            </a:r>
          </a:p>
        </p:txBody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FED6610B-D425-4279-A1D0-03225121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3571875" y="1476375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9078F68F-30C7-4383-ACF7-776CBAB0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48399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Jonas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113CA773-ED86-41AA-A591-02EEE645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5048250" y="1476375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8CB7AFF9-6786-46B5-87F9-6EF312E8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8399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Noah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F9F3992F-2D53-4918-806F-F5F30F35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2095500" y="1558290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91BDA6A9-B997-46E5-8CE7-274C317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6591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Lea</a:t>
            </a:r>
          </a:p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0510FB79-5BF2-48A4-8BC2-6D4EFB4F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3571875" y="1558290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30BC332B-D107-43BE-BC56-5670E229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56591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Ali</a:t>
            </a:r>
          </a:p>
        </p:txBody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822F6E71-40FB-4F99-8514-3A20AAD1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5048250" y="1558290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72A7F1F2-1D3C-4788-8626-8608DEBF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6591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Emma</a:t>
            </a: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13F3CFF3-D242-494C-981E-AEA55807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801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97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Live-Bühne als zentraler Blickfang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BBAB8B71-0C38-4D34-AEC7-F5129030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430500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3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Teilnehmende werden in Echtzeit sichtbar. Beim Auslosen bewegt sich die Liste; Ergebnis oder Teams werden groß und präsent dargestellt.</a:t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02829D47-01FC-4DF0-9E20-533D34C6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002125"/>
            <a:ext cx="4095750" cy="1809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DFF8FB">
              <a:alpha val="13333"/>
            </a:srgbClr>
          </a:solidFill>
          <a:ln xmlns:a="http://schemas.openxmlformats.org/drawingml/2006/main" w="19050">
            <a:solidFill>
              <a:srgbClr val="9EEAF2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7E6642B4-E8AF-4529-B999-39522C68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116425"/>
            <a:ext cx="3829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FFAF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FFAFE"/>
                </a:solidFill>
                <a:latin typeface="Aptos"/>
                <a:ea typeface="Aptos"/>
                <a:cs typeface="Aptos"/>
              </a:rPr>
              <a:t>Team 1</a:t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E37726FE-C9EA-483C-8EF5-5E373045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402175"/>
            <a:ext cx="38290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C15E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1647AC3A-2EE3-4FEE-9F5C-C04AF887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440275"/>
            <a:ext cx="3752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93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Graphen</a:t>
            </a: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5A4CD069-34CC-47B0-B645-7414A76B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697450"/>
            <a:ext cx="38290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B261C38A-1445-4529-8338-6EFAFB7A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716500"/>
            <a:ext cx="3676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Mina</a:t>
            </a: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E8FAC7DF-6B7F-4705-82BB-05D1E0E7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35575"/>
            <a:ext cx="38290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9265FEE6-6440-490C-AEEC-BC203261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954625"/>
            <a:ext cx="3676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Jonas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C2FB0BA7-38AC-4EA2-9993-D154FA99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002125"/>
            <a:ext cx="4095750" cy="1809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DFF8FB">
              <a:alpha val="13333"/>
            </a:srgbClr>
          </a:solidFill>
          <a:ln xmlns:a="http://schemas.openxmlformats.org/drawingml/2006/main" w="19050">
            <a:solidFill>
              <a:srgbClr val="9EEAF2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6FB5D762-2B7E-4B7E-BC42-B6C92581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116425"/>
            <a:ext cx="3829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FFAF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FFAFE"/>
                </a:solidFill>
                <a:latin typeface="Aptos"/>
                <a:ea typeface="Aptos"/>
                <a:cs typeface="Aptos"/>
              </a:rPr>
              <a:t>Team 2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20559396-C85E-4E29-8F66-2AF2C606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402175"/>
            <a:ext cx="38290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C15E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6807AB6F-7153-4DC2-88C4-81386409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440275"/>
            <a:ext cx="3752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93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Datenbanken</a:t>
            </a:r>
          </a:p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EE9A3CF8-EDAE-4ED5-9F58-5BA1A2BC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697450"/>
            <a:ext cx="38290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E179301C-327F-4BED-972F-88D7AF20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0"/>
            <a:ext cx="3676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Lea</a:t>
            </a: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8EFD628B-6B37-43BE-B886-F25E3ECF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935575"/>
            <a:ext cx="38290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38B13FBD-E04A-4D71-BF6D-6C47AACF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954625"/>
            <a:ext cx="3676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Noah</a:t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36606F78-8DB7-49E8-AC6A-57D15912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7002125"/>
            <a:ext cx="4095750" cy="1809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DFF8FB">
              <a:alpha val="13333"/>
            </a:srgbClr>
          </a:solidFill>
          <a:ln xmlns:a="http://schemas.openxmlformats.org/drawingml/2006/main" w="19050">
            <a:solidFill>
              <a:srgbClr val="9EEAF2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6960CD27-50D9-4D84-89EB-84A34EB3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17116425"/>
            <a:ext cx="3829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FFAF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FFAFE"/>
                </a:solidFill>
                <a:latin typeface="Aptos"/>
                <a:ea typeface="Aptos"/>
                <a:cs typeface="Aptos"/>
              </a:rPr>
              <a:t>Team 3</a:t>
            </a: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6EBCEDA7-F309-4AFC-B3A4-1EB28169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17402175"/>
            <a:ext cx="38290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C15E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D5816DCD-404E-4197-A0CA-D4DC719D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17440275"/>
            <a:ext cx="3752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93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Hashing</a:t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F47AE0BC-9032-4EB0-BA97-B287A317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17697450"/>
            <a:ext cx="38290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FBCCA548-4C6B-4E96-885D-F031659A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17716500"/>
            <a:ext cx="3676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Mina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13AD71AA-54DC-4AA5-AA03-82ADA93C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17935575"/>
            <a:ext cx="38290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F6CA9FBE-3719-403E-AF3A-F0FD1CC2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17954625"/>
            <a:ext cx="3676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Jonas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1C258184-41C0-4043-83EB-2CDF441D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478625"/>
            <a:ext cx="4095750" cy="1809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DFF8FB">
              <a:alpha val="13333"/>
            </a:srgbClr>
          </a:solidFill>
          <a:ln xmlns:a="http://schemas.openxmlformats.org/drawingml/2006/main" w="19050">
            <a:solidFill>
              <a:srgbClr val="9EEAF2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A8A8DA7D-4977-4A57-B154-4ED3E14D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592925"/>
            <a:ext cx="3829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FFAF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FFAFE"/>
                </a:solidFill>
                <a:latin typeface="Aptos"/>
                <a:ea typeface="Aptos"/>
                <a:cs typeface="Aptos"/>
              </a:rPr>
              <a:t>Team 4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6398EE0E-3F02-4CB3-B0DC-CCBD1755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78675"/>
            <a:ext cx="38290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C15E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63EB6A6B-D83A-491E-A307-D3ABC211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916775"/>
            <a:ext cx="3752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93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Queues</a:t>
            </a: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1A16670B-8D84-4ADE-9DED-6FF3740D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173950"/>
            <a:ext cx="38290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B59AE762-93EF-4788-A3F4-48B3BDA3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193000"/>
            <a:ext cx="3676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Lea</a:t>
            </a: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B8360F8-99B3-4678-A979-6DD5A54F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412075"/>
            <a:ext cx="38290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A2AE61E2-D1FD-4611-BCF9-5A323FBE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431125"/>
            <a:ext cx="3676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Noah</a:t>
            </a: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C9B14F56-C71F-4ACD-B361-4900BD0F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78625"/>
            <a:ext cx="4095750" cy="1809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DFF8FB">
              <a:alpha val="13333"/>
            </a:srgbClr>
          </a:solidFill>
          <a:ln xmlns:a="http://schemas.openxmlformats.org/drawingml/2006/main" w="19050">
            <a:solidFill>
              <a:srgbClr val="9EEAF2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745AC85E-F884-484B-9F89-AE0F1319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592925"/>
            <a:ext cx="3829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FFAF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FFAFE"/>
                </a:solidFill>
                <a:latin typeface="Aptos"/>
                <a:ea typeface="Aptos"/>
                <a:cs typeface="Aptos"/>
              </a:rPr>
              <a:t>Team 5</a:t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3D698636-A59F-4909-B2EF-4C122B7A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878675"/>
            <a:ext cx="38290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C15E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ED9FEFB6-0DAF-4EAF-B66C-5663BAC9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916775"/>
            <a:ext cx="3752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93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220B2DB1-FB66-44EC-96DD-69293F5D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173950"/>
            <a:ext cx="38290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10C146AB-F473-45EC-A93D-BC8A0FBF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0"/>
            <a:ext cx="3676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Mina</a:t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F952A8DA-3FFC-48BD-8CF8-6FB871FF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412075"/>
            <a:ext cx="38290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BA80792B-EB5F-4FE6-A2DF-4063D377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431125"/>
            <a:ext cx="3676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Jonas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B086CADC-0E19-4DED-9A3C-DC167AB8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9478625"/>
            <a:ext cx="4095750" cy="1809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DFF8FB">
              <a:alpha val="13333"/>
            </a:srgbClr>
          </a:solidFill>
          <a:ln xmlns:a="http://schemas.openxmlformats.org/drawingml/2006/main" w="19050">
            <a:solidFill>
              <a:srgbClr val="9EEAF2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1856C20C-B8AB-42F4-98EE-3A025F79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19592925"/>
            <a:ext cx="3829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FFAF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FFAFE"/>
                </a:solidFill>
                <a:latin typeface="Aptos"/>
                <a:ea typeface="Aptos"/>
                <a:cs typeface="Aptos"/>
              </a:rPr>
              <a:t>Team 6</a:t>
            </a:r>
          </a:p>
        </p:txBody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F9570499-A642-4A68-872E-E56F9D35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19878675"/>
            <a:ext cx="38290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C15E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D9027DAE-D849-45E6-A322-D8070B49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19916775"/>
            <a:ext cx="3752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93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UX-Test</a:t>
            </a:r>
          </a:p>
        </p:txBody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21AA1C45-7BE6-467B-8B9D-388241A5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0173950"/>
            <a:ext cx="38290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5F8F2F9E-B4BC-4CB4-9D8D-0E870CED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0193000"/>
            <a:ext cx="3676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Lea</a:t>
            </a:r>
          </a:p>
        </p:txBody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C8E2ADA4-43AE-4082-8FD6-465C1D8F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0412075"/>
            <a:ext cx="38290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85655F1E-58CB-4E68-9D42-6DF0649D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0431125"/>
            <a:ext cx="3676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Noah</a:t>
            </a:r>
          </a:p>
        </p:txBody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C5780A46-99F4-42F8-9AFB-6485A302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36125"/>
            <a:ext cx="1371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72994468-3822-4EE6-AB2B-A578B9A7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21875"/>
            <a:ext cx="1295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37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Teams können live neu ausgelost, Themen zufällig verteilt und Personen per Drag-and-drop verschoben werden.</a:t>
            </a:r>
          </a:p>
        </p:txBody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DE7AC4B9-EC8D-4A05-80B0-8E952548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14287500"/>
            <a:ext cx="83820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9DFF9E33-DE56-4CA6-B244-6F6D50EA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14535150"/>
            <a:ext cx="777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Fairness-Modell</a:t>
            </a:r>
          </a:p>
        </p:txBody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E61865FC-A54D-493A-B8FF-48F5EE13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150" y="15182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A5F3F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A5F3FC"/>
                </a:solidFill>
                <a:latin typeface="Aptos"/>
                <a:ea typeface="Aptos"/>
                <a:cs typeface="Aptos"/>
              </a:rPr>
              <a:t>Einzelauslosung</a:t>
            </a:r>
          </a:p>
        </p:txBody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766923C6-9F29-4C31-8F2C-E0232CB9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150" y="15573375"/>
            <a:ext cx="769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P(Name i) = Gewicht i / Summe aller Gewichte</a:t>
            </a: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6AE42AA3-A08F-424B-A47D-CB721E35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150" y="16325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Team-Auslosung</a:t>
            </a: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92CF55F7-3E24-42AD-9058-B7D4C715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150" y="16716375"/>
            <a:ext cx="769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Shuffle → Chunks der Teamgröße → Einzelrest wird verteilt</a:t>
            </a:r>
          </a:p>
        </p:txBody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FF045396-7AED-467F-B786-8C496CC5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150" y="17430750"/>
            <a:ext cx="7696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Ziel: Jede Person wird nachvollziehbar genau einmal berücksichtigt; Gewichtung ist nur dort aktiv, wo sie didaktisch gewollt ist.</a:t>
            </a:r>
          </a:p>
        </p:txBody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81C4FDA9-36F4-4489-8D9D-C6AA0E4D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19526250"/>
            <a:ext cx="838200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CBC0EF6A-A252-466B-AF22-BB49E2D1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0" y="200025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1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QR-Flow und Anmeldung</a:t>
            </a: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F7A57A14-41FD-47B0-AAE3-78AC3734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9175" y="20831175"/>
            <a:ext cx="2438400" cy="2438400"/>
          </a:xfrm>
          <a:prstGeom xmlns:a="http://schemas.openxmlformats.org/drawingml/2006/main" prst="roundRect">
            <a:avLst>
              <a:gd name="adj" fmla="val 39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734FCE8D-4503-4639-9183-378A24E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25" y="21002625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6B29E8E7-2906-4C18-BBAB-543F728A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3458" y="21002625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FC5AFA25-4317-433F-AF52-0EFAEEBF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6292" y="21002625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CC38F5EA-32BA-4208-8E8F-15052AA9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7625" y="21002625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0DD48737-6A7D-43E0-BA10-24D478C7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0458" y="21002625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996AED08-4E2C-40AF-B55B-2EE4997F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3292" y="21002625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4C4A034E-A948-4918-9FE6-44B88F84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25" y="21235458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F630778C-60EF-4FA0-9241-5A027A1D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6292" y="21235458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9A0680A6-B9BD-40D3-871C-464880BB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1958" y="21235458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339ED884-FB33-48FC-B1F9-8A75435D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7625" y="21235458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76E3C50E-B883-450C-B7ED-F817C5A2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3292" y="21235458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4A3C7E3A-4754-4D81-8494-597EFAF4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25" y="214682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EF40044B-E7A7-4365-B527-BABF681B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3458" y="214682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4153B84E-77C9-4988-B39B-AC2B1DB6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6292" y="214682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A8CF4712-C1C7-4C27-A8CF-FFDFED8D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4792" y="214682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7FE61F5C-0A02-407E-94A9-AD9EF795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7625" y="214682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5F8AF2AC-55DF-4D87-B0A7-545BA4BC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0458" y="214682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124D8FF4-C489-427B-A326-A08E7EE1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3292" y="214682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7C82B3E8-D2E3-409E-BCC9-6E1393B6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125" y="21701125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149C696F-BF1F-47DA-B2F8-CEAAE720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4792" y="21701125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5F703380-A1A7-46F0-A2AB-0974EF5C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3458" y="21933958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AB0BBBAF-5762-4862-A3F6-80CE12CC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6292" y="21933958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13510AE0-D509-43ED-8BF1-C7B0DC43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1958" y="21933958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D3126FDD-68C1-4BBC-9730-EACD621D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0458" y="21933958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6C229C79-169C-489D-A5EE-9CCF691F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25" y="221667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1BEECE64-E3DA-41CB-8D55-92C7AD08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125" y="221667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E9E91510-29DD-46B6-91FF-A5A8E511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1958" y="221667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E5595081-6EC6-4131-A2AC-FA68BECB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3292" y="221667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8C3FE875-57A0-4F09-88F6-2DC9C87A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25" y="22399625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9C2C1478-5E0C-4B21-91FF-10357A47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3458" y="22399625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BBD1639A-478E-454A-B92C-44FB1C55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6292" y="22399625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47F27E69-82B3-4A5B-8633-F6685DC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4792" y="22399625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42CF9383-626E-439F-B149-EB318210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7625" y="22399625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86A03A6B-D630-47BD-BBA8-3D1E6DA1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3292" y="22399625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D3D9639A-9E2A-4496-8A0F-675C6E17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25" y="22632458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F3352931-FC36-4494-B7DE-E4CF0249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6292" y="22632458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D262096A-C8ED-4BD4-A9DA-6B8B6867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1958" y="22632458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06957475-F2AF-4160-B416-A26361B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7625" y="22632458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E5B92B36-F0B5-4F8F-99D7-051EC89A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0458" y="22632458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C9CFF5DB-44C0-4E7E-B682-C2525A4D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25" y="228652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FA1E168C-FD4D-4CCF-A9EB-7642A8E0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3458" y="228652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802A4688-A1AE-4E90-AF54-0090DC49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6292" y="228652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A9DBA3A5-34CE-424F-95D7-80B39CB3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1958" y="228652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ABC16B9E-01B8-4E56-8721-A5F79B35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0458" y="228652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E7A84066-DB22-4F56-B05F-34A2323C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3292" y="22865292"/>
            <a:ext cx="190923" cy="190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835DCD88-DD12-4653-BA6E-1ED56322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0" y="20726400"/>
            <a:ext cx="2857500" cy="3476625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9561F5C2-271D-46F5-9261-4725D60B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0" y="20993100"/>
            <a:ext cx="2514600" cy="2943225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41035D01-02B1-4979-8727-CFBE4ED8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7700" y="213360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89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Zur Session anmelden</a:t>
            </a:r>
          </a:p>
        </p:txBody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3A5F8A45-DC81-4783-90A2-D4E131E7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3900" y="22098000"/>
            <a:ext cx="1981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E34E98AC-BEA5-4E40-8EF2-1C9A8946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300" y="222313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685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Demo-Name</a:t>
            </a:r>
          </a:p>
        </p:txBody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832EF898-FEF4-4F17-8305-D57B50B9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3900" y="22840950"/>
            <a:ext cx="1981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A1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6C16D72F-DD8B-4FA0-B07C-FF48179B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3900" y="229838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617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Anmelden</a:t>
            </a:r>
          </a:p>
        </p:txBody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DE8C32B7-F6E4-4F3C-8862-2F8F4172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0" y="243649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7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Der QR-Code senkt die Einstiegshürde: keine Account-Erstellung, keine manuelle Erfassung, sofortige Anzeige auf der Live-Seite.</a:t>
            </a:r>
          </a:p>
        </p:txBody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C42A928F-0C7F-4D9F-8682-A3C2B58B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0"/>
            <a:ext cx="12573000" cy="666750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B959505E-B851-4A2C-A27E-683E008E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0"/>
            <a:ext cx="17145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FF2C8F74-C6C6-4C27-991B-8CA4EED6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079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0D081CCC-3630-4D44-8A26-B29F8C7A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174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A676B5B5-BB66-425B-97F0-2233840D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050875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Wissenschaftliche Reduktion</a:t>
            </a:r>
          </a:p>
        </p:txBody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636E5D0F-F672-4B75-9B30-F1F8CA29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955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Kernidee</a:t>
            </a:r>
          </a:p>
        </p:txBody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F88A1F03-8950-4485-AAEF-E85F9ED1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5463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83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Das Projekt übersetzt eine organisatorische Aufgabe in einen transparenten, reproduzierbar erklärbaren digitalen Ablauf.</a:t>
            </a:r>
          </a:p>
        </p:txBody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98C3CEF7-D1E0-434F-B80D-0CEBC9E0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613100"/>
            <a:ext cx="1066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025" b="0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• Reduktion des Vergabeprozesses auf wenige verständliche Interaktionen.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025" b="0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• Trennung der Modi: Einzelauslosung, Teams, Themen.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025" b="0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• Nachvollziehbare Regeln statt spontaner manueller Entscheidung.</a:t>
            </a:r>
          </a:p>
        </p:txBody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C1165FBF-0C9D-4BC2-8EFE-49E9C79B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25717500"/>
            <a:ext cx="12858750" cy="666750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32A805A9-7F89-48C5-BF8F-53770B1A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25717500"/>
            <a:ext cx="17145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E63ECCA2-C2F7-4EDE-96C0-FA595030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26079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5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0AF185FB-CE35-4489-9EC6-DEEC95E3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26174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ABB9A874-590F-4CB0-8A40-8B92B645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0" y="26050875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Fazit</a:t>
            </a:r>
          </a:p>
        </p:txBody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4DB81DA4-0144-426D-BFC5-117C46CB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26955750"/>
            <a:ext cx="50958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7E4CA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2D0DE63A-137E-4AC0-BE61-50C00BF4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0575" y="27184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fair</a:t>
            </a:r>
          </a:p>
        </p:txBody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F7213707-C58E-445E-8415-2D8F2D1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0575" y="276415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Gewichtung und Zufall sind explizit sichtbar.</a:t>
            </a:r>
          </a:p>
        </p:txBody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43B5FB85-83DB-44AD-8754-42FA2A66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0" y="26955750"/>
            <a:ext cx="50958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EFFF"/>
          </a:solidFill>
          <a:ln xmlns:a="http://schemas.openxmlformats.org/drawingml/2006/main" w="9525">
            <a:solidFill>
              <a:srgbClr val="B8C7FF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CCBA1C9B-F0C3-4B02-BF2D-457FA72F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0" y="27184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schnell</a:t>
            </a:r>
          </a:p>
        </p:txBody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7269CE54-826F-4DC4-84C6-7F367B17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0" y="276415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65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QR-Code ersetzt mündliche/manuelle Erfassung.</a:t>
            </a:r>
          </a:p>
        </p:txBody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77DC921E-0E1E-4939-A8E6-D9BAB763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29051250"/>
            <a:ext cx="50958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7E4CA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FEF4A40D-2B9A-4CAD-A4BE-6DAAB157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0575" y="292798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transparent</a:t>
            </a:r>
          </a:p>
        </p:txBody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15F7B9F8-5183-44EE-9891-8B53A5C8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0575" y="297370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Die Live-Bühne zeigt Prozess und Ergebnis.</a:t>
            </a:r>
          </a:p>
        </p:txBody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35DADAB9-4848-4996-9F28-B5D8AADF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0" y="29051250"/>
            <a:ext cx="50958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EFFF"/>
          </a:solidFill>
          <a:ln xmlns:a="http://schemas.openxmlformats.org/drawingml/2006/main" w="9525">
            <a:solidFill>
              <a:srgbClr val="B8C7FF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E06012D9-AFCB-4DEE-B9B2-A85067A0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0" y="292798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erweiterbar</a:t>
            </a:r>
          </a:p>
        </p:txBody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2A8C863D-DC1F-480D-8D34-9D913B4D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0" y="297370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79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Session-Typen können modular ergänzt werden.</a:t>
            </a:r>
          </a:p>
        </p:txBody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FB7B77FE-3D88-4899-852A-CA35F599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432750"/>
            <a:ext cx="26479500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D7DDE0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AC48BF74-1E80-41BA-8004-954ECC4E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0614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808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Nächste Schritte</a:t>
            </a:r>
          </a:p>
        </p:txBody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0775357E-D6F4-49F6-A55D-81465945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766250"/>
            <a:ext cx="12192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• Weitere Session-Typen definieren, ohne die Live-Bühne pro Modus neu bauen zu müssen.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• Optional: Evaluation mit Lehrenden und Studierenden zur wahrgenommenen Fairness.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• Optional: Ergebnisprotokoll oder Export, falls eine Lehrveranstaltung dauerhafte Nachweise braucht.</a:t>
            </a:r>
          </a:p>
        </p:txBody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779FEC63-E15A-45A1-8606-9F293890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3909000"/>
            <a:ext cx="11239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D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D164DE30-061B-47CF-AA55-2EF3E26C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3909000"/>
            <a:ext cx="1123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6B0237FA-9C58-4344-8B6E-1CB3AD64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34099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0C20AC9C-A4DF-465D-890B-538551EC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34099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3050A672-B781-4055-8A27-A8259F51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34099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7CB1D2F4-380F-4631-AF79-495DC998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34042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Themenzuordnung</a:t>
            </a:r>
          </a:p>
        </p:txBody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FCDA9108-09D7-4FA4-98DA-E0C0D946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4632900"/>
            <a:ext cx="10858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EAD694CC-9218-46B7-AA78-317C63EB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75" y="34928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4128AA64-C839-4E96-9961-CD3AA43F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4900" y="35433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6C2E9373-D67B-41E7-BBBA-CD59D384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7325" y="359378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0ECC8E4D-04C6-4AEA-B40D-BB7F521E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364426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FA7D6F06-F234-4874-8615-E7036A36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2175" y="346424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AE1F76B7-EB6F-4DEF-88BE-A329DCEF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600" y="351472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CE28C5AF-3B00-465B-B1A6-30ED9ED5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25" y="35652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98279529-471D-4E4B-9AD5-547C4726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9450" y="361569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7C814199-EE2B-482E-96DC-8A4E66E4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366617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38284459-2DA1-4450-8E5A-60D83ECD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0" y="34861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C8C5FDC0-D348-45A0-98F3-EF4F7984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6725" y="353663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30B97D53-E52A-4078-A355-D557D4F4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150" y="35871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E9994B4F-FE73-4245-BAA8-24013277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1575" y="36375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C2A95FB0-B33F-4275-AA85-515670FA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0" y="368808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10752524-27EE-4864-B1C0-DC1E009C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6425" y="350805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D2160B03-99FC-4B26-9BC0-FAD01726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8850" y="355854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08BEDC62-20E6-4C80-8C1F-5B1FDBDB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1275" y="36090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EEFE354F-56C9-46EC-9D0A-FB791B7B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0" y="365950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7FA25A62-981F-47DD-A84F-7E6D0F58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347948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CB947E3B-2C55-4205-8FD9-BD6B2AE4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8550" y="352996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62EF2127-5D9C-4CB2-AE0C-310F7805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0975" y="358044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B334CAF3-303C-45CC-BB48-09EDDCBD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0" y="363093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CFCEDFD5-5E6A-4ED1-9463-8626E83B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5825" y="368141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04F6414E-7CDB-470F-83DF-E58F8938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0" y="350139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E5E56626-213D-4B57-B034-01DA4E47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0675" y="355187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18F030BA-0D5D-4AEC-93FB-4B3C18E0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100" y="360235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19081E6A-C400-42FB-96BD-781F7620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5525" y="365283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CD54D018-3A0E-4829-91A7-1FC47857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7950" y="34728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C4142D26-16F1-4EA2-AFE6-4963E090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0375" y="35232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0E8970DD-DDC3-46AE-BF88-A3354E8D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0" y="357378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211AD020-E94A-4BF8-9B67-7C396733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1025" y="362426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C20F0AFF-A794-48E8-8D60-263B7FF3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0" y="3674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3D0C6ADE-E8B9-4C4F-9405-3138B0FD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34947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92A23C0C-2F66-4AE1-9E51-5C441ADD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354520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CA5C6D7F-F1A0-4BAD-BCB7-37DB1153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0725" y="35956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F000C9A1-DFAB-46A2-ACEC-89EAAF5B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0" y="364617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62D19F02-D13A-416F-BCC6-2F0E751D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34661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DE102F5-F4B2-432B-8E27-B2BF26D2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351663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3AA2FA9-A580-4E96-92AE-FCBEC1C0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0425" y="356711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5288DA2-E833-4EEE-B2D8-95EE73F1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2850" y="3617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5EA57F3-2560-40CD-861E-92E45FFA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5275" y="366807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361D4B0-3E14-4F21-9077-BB0DEE6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0" y="348805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C1F9153F-4106-4DB4-810F-8CEDE277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25" y="353853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3337479-4121-4A4F-BCD9-00DCA8C6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550" y="3589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7D88110-BB52-4F81-AF91-808CD87E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4975" y="363950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F9CA8B47-C82A-4C7B-B59C-64A8F556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7400" y="36899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DA3630C-9C3F-4B6C-815B-E980678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9825" y="35099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B5B2F0E-D831-498D-A65C-04BFA0DC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3560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461ECBD-96CA-45D1-8182-4EABFB14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4675" y="36109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D66FC393-6FF1-410A-A72A-27C9E1C3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7100" y="366141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BFC8F9F-F2DC-43D1-8918-7B2BA05A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9525" y="348138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43FD3AD-2A3C-4411-AAB8-7C8BC8CC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1950" y="3531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A31C3040-D9BA-4BDC-B85A-EFFD757F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358235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CBC6F55-5107-4C38-9DE5-E64E9496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6800" y="363283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32F54F8F-CD38-47D8-A1A8-39AF2CED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9225" y="368331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EE45624-3586-4B9B-9A7A-84A394EE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1650" y="35032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52169791-1ED9-40B1-B7E5-BE03E476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4075" y="355377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28D76854-77E6-4BEB-A665-0EDF2FD9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0" y="360426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79A6A7BD-4234-4252-9940-3A295B4D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8925" y="365474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9390A072-795F-468C-856E-34475F08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350" y="3474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24DD875F-A584-44B1-A29F-41200C87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3775" y="352520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DB3CB1FB-1C8D-4850-A91C-77385FA1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357568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6EDA4DD1-D9CC-42AE-A34E-DF7E5215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425" y="36261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984E613D-2561-458E-897F-65FF35E1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6850" y="3676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9CF12721-CC04-4E94-A6DC-BB35E08F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9275" y="34966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AD629C8E-1B39-4FF7-8D31-D589808F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700" y="354711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86497C91-2EB3-4673-B953-68449352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4125" y="359759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61A83D90-2536-46C6-8802-3FA668DB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3648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5156A77B-C7D5-41D9-A593-07B635A7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975" y="346805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D50BB4AA-3DE9-4E8E-A38B-95B3FED8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400" y="351853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6B58AB36-341F-4D9E-BB73-7F9D47DD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3825" y="356901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E38DAA45-A07C-4AA8-BD4D-2816D839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3619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5DAFA8E3-9375-4E2F-9448-4D46D47A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8675" y="366998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A16C2F99-576B-4E53-B68A-4B57ECCB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100" y="348996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04F5908C-BD5F-473E-AF80-924350D5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6478250" y="3510915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DEEEDAD4-FFD3-49CD-8953-9E6D50A3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351853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Mina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97EA5FE-0105-4205-AA3E-3047B2A1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17954625" y="3510915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62FA1D1-1B43-4F2C-8636-FD03D188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0825" y="351853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Jonas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DE42491-6794-4A00-A5E7-18C9814B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9431000" y="3510915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D81D08BE-B90F-4AFB-A38A-63649081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7200" y="351853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Noah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2ABE9A50-E162-4565-ACB9-E58058E0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16478250" y="3592830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D0C4B6D4-183F-4ACF-98ED-A37AA5A8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36004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Lea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6CA01079-E726-48BE-81AA-F57DD1BC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7954625" y="3592830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B5D8DB14-29C4-4D4B-9D94-F86E7DFF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0825" y="36004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Ali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71D0B88E-A47A-433B-93D9-0446B150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19431000" y="35928300"/>
            <a:ext cx="1162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F4803665-FAB0-4132-90DC-4C6FE7FE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7200" y="36004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🚀 Emma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67375C48-49BC-49ED-B18D-7501794D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75" y="34918650"/>
            <a:ext cx="1600200" cy="238125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70218474-75D5-47E4-9058-2CB18D3C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75" y="3509962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Themen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DB72A33A-AB47-44F4-AD88-CDB9C8F7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75" y="35547300"/>
            <a:ext cx="12001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C15E"/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B7032CEB-2C7D-42F0-A025-A7BEFDB3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0" y="356044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675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Graphen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C50CFD7F-D455-4D4A-9892-6CA63B37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75" y="36042600"/>
            <a:ext cx="12001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C15E"/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3B0077F5-5696-4F75-9A3C-BB1D12D5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0" y="360997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675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Queues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4E942803-81E8-47FC-9907-FCE35CE4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75" y="36537900"/>
            <a:ext cx="12001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C15E"/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99880DC8-22CA-41D6-BD4B-12696EAD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0" y="365950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675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Hashing</a:t>
            </a:r>
          </a:p>
        </p:txBody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C312A20F-DEE3-486A-ABF8-119F31B0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0" y="35032950"/>
            <a:ext cx="285750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FF8FB">
              <a:alpha val="13333"/>
            </a:srgbClr>
          </a:solidFill>
          <a:ln xmlns:a="http://schemas.openxmlformats.org/drawingml/2006/main" w="19050">
            <a:solidFill>
              <a:srgbClr val="9EEAF2"/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398EAF51-3394-4CF3-AC3C-186DB9FA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9650" y="3514725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FFAF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FFAFE"/>
                </a:solidFill>
                <a:latin typeface="Aptos"/>
                <a:ea typeface="Aptos"/>
                <a:cs typeface="Aptos"/>
              </a:rPr>
              <a:t>Team 1</a:t>
            </a:r>
          </a:p>
        </p:txBody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9680D6F6-BEFB-491F-ABB1-3904A6C4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9650" y="35433000"/>
            <a:ext cx="259080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C15E"/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E1F9495F-C6B3-412C-91D6-197B3ACD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354711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93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Graphen</a:t>
            </a:r>
          </a:p>
        </p:txBody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356CF1E5-BBEC-4B48-BCB9-BF41830F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9650" y="35728275"/>
            <a:ext cx="25908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B8B29845-5846-4529-BEE6-13608F49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35747325"/>
            <a:ext cx="2438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Mina</a:t>
            </a:r>
          </a:p>
        </p:txBody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F2FB433F-5F4A-4EF4-A16C-951EE5B3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9650" y="35966400"/>
            <a:ext cx="25908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573F8F9C-04CB-4DFB-9159-9BDA2DF4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35985450"/>
            <a:ext cx="2438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Jonas</a:t>
            </a:r>
          </a:p>
        </p:txBody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6AE30D8E-B54F-404C-9950-F97090AF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0" y="36328350"/>
            <a:ext cx="285750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FF8FB">
              <a:alpha val="13333"/>
            </a:srgbClr>
          </a:solidFill>
          <a:ln xmlns:a="http://schemas.openxmlformats.org/drawingml/2006/main" w="19050">
            <a:solidFill>
              <a:srgbClr val="9EEAF2"/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29B0ABDA-2B11-4CC1-9FC5-F19F6BD3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9650" y="3644265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72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FFAF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FFAFE"/>
                </a:solidFill>
                <a:latin typeface="Aptos"/>
                <a:ea typeface="Aptos"/>
                <a:cs typeface="Aptos"/>
              </a:rPr>
              <a:t>Team 2</a:t>
            </a:r>
          </a:p>
        </p:txBody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0846CE5F-3625-4ED2-B264-BA37FBFB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9650" y="36728400"/>
            <a:ext cx="259080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C15E"/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241CC982-0465-4123-A871-571A7237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367665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93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2B30"/>
                </a:solidFill>
                <a:latin typeface="Aptos"/>
                <a:ea typeface="Aptos"/>
                <a:cs typeface="Aptos"/>
              </a:rPr>
              <a:t>Hashing</a:t>
            </a:r>
          </a:p>
        </p:txBody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A779F7E5-2353-4239-AEA9-EB36A657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9650" y="37023675"/>
            <a:ext cx="25908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673B53D5-4EA2-408F-B1D9-65E6E22E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37042725"/>
            <a:ext cx="2438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Lea</a:t>
            </a:r>
          </a:p>
        </p:txBody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D128D83E-5B7D-48AD-9F66-781A6B38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9650" y="37261800"/>
            <a:ext cx="25908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C0AED933-2933-4070-9F45-AD375676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37280850"/>
            <a:ext cx="2438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51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Noah</a:t>
            </a:r>
          </a:p>
        </p:txBody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CD209770-36F5-4CB7-BC92-FBA5D61B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0"/>
            <a:ext cx="1762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1">
                <a:solidFill>
                  <a:srgbClr val="1F2B30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1F2B30"/>
                </a:solidFill>
                <a:latin typeface="Aptos"/>
                <a:ea typeface="Aptos"/>
                <a:cs typeface="Aptos"/>
              </a:rPr>
              <a:t>Kemal Fathulla · Hochschule RheinMain · Master Informatik · Smart Student Picker</a:t>
            </a:r>
          </a:p>
        </p:txBody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A7AC2C25-2F15-41FA-890D-F6C2D57C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00250"/>
            <a:ext cx="1885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5E6A70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E6A70"/>
                </a:solidFill>
                <a:latin typeface="Aptos"/>
                <a:ea typeface="Aptos"/>
                <a:cs typeface="Aptos"/>
              </a:rPr>
              <a:t>Quellen/Assets: eigene App-Mockups mit Demo-Daten; Layout orientiert an der HSRM-Informatik-Postervorlage; keine personenbezogenen Daten.</a:t>
            </a:r>
          </a:p>
        </p:txBody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787A6695-0D70-43E3-8619-FCAC9B73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0" y="3950970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151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450" b="1" i="0">
                <a:solidFill>
                  <a:srgbClr val="4A145C"/>
                </a:solidFill>
                <a:latin typeface="Aptos"/>
                <a:ea typeface="Aptos"/>
                <a:cs typeface="Aptos"/>
              </a:defRPr>
            </a:pPr>
            <a:r>
              <a:rPr sz="6450" b="1" i="0">
                <a:solidFill>
                  <a:srgbClr val="4A145C"/>
                </a:solidFill>
                <a:latin typeface="Aptos"/>
                <a:ea typeface="Aptos"/>
                <a:cs typeface="Aptos"/>
              </a:rPr>
              <a:t>hsrm*</a:t>
            </a:r>
          </a:p>
        </p:txBody>
      </p:sp>
    </p:spTree>
    <p:extLst>
      <p:ext uri="{BB962C8B-B14F-4D97-AF65-F5344CB8AC3E}">
        <p14:creationId xmlns:p14="http://schemas.microsoft.com/office/powerpoint/2010/main" val="1692976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2026-06-20T10:49:21.3840000Z</dcterms:created>
  <dcterms:modified xsi:type="dcterms:W3CDTF">2026-06-20T10:49:21.3840000Z</dcterms:modified>
</coreProperties>
</file>